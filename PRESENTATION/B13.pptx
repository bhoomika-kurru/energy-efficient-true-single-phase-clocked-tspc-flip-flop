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8" r:id="rId4"/>
    <p:sldId id="257" r:id="rId5"/>
    <p:sldId id="270" r:id="rId6"/>
    <p:sldId id="259" r:id="rId7"/>
    <p:sldId id="260" r:id="rId8"/>
    <p:sldId id="302" r:id="rId9"/>
    <p:sldId id="300" r:id="rId10"/>
    <p:sldId id="301" r:id="rId11"/>
    <p:sldId id="277" r:id="rId12"/>
    <p:sldId id="293" r:id="rId13"/>
    <p:sldId id="278" r:id="rId14"/>
    <p:sldId id="304" r:id="rId15"/>
    <p:sldId id="281" r:id="rId16"/>
    <p:sldId id="305" r:id="rId17"/>
    <p:sldId id="306" r:id="rId18"/>
    <p:sldId id="263" r:id="rId19"/>
    <p:sldId id="279" r:id="rId20"/>
    <p:sldId id="296" r:id="rId21"/>
    <p:sldId id="297" r:id="rId22"/>
    <p:sldId id="284" r:id="rId23"/>
    <p:sldId id="285" r:id="rId24"/>
    <p:sldId id="291" r:id="rId25"/>
    <p:sldId id="292" r:id="rId26"/>
    <p:sldId id="294" r:id="rId27"/>
    <p:sldId id="295" r:id="rId28"/>
    <p:sldId id="265" r:id="rId29"/>
    <p:sldId id="299" r:id="rId30"/>
    <p:sldId id="267" r:id="rId31"/>
    <p:sldId id="287" r:id="rId32"/>
    <p:sldId id="298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22131607" name="sailatha 475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tags" Target="../tags/tag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6865"/>
            <a:ext cx="7772400" cy="97917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Energy-Efficient True Single Phase Clocked Flip Flop for High Performance Applications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11395"/>
            <a:ext cx="6400800" cy="1511935"/>
          </a:xfrm>
        </p:spPr>
        <p:txBody>
          <a:bodyPr>
            <a:normAutofit fontScale="97500"/>
          </a:bodyPr>
          <a:lstStyle/>
          <a:p>
            <a:pPr>
              <a:lnSpc>
                <a:spcPct val="80000"/>
              </a:lnSpc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</a:t>
            </a:r>
            <a:endParaRPr lang="en-IN" sz="2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80000"/>
              </a:lnSpc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Women(A)</a:t>
            </a:r>
            <a:endParaRPr lang="en-IN" sz="2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80000"/>
              </a:lnSpc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Affiliated to JNTU-GV, Visakhapatnam, </a:t>
            </a:r>
            <a:endParaRPr lang="en-IN" sz="2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80000"/>
              </a:lnSpc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Andhra Pradesh – 530049.</a:t>
            </a:r>
            <a:endParaRPr lang="en-IN" sz="2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9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29075" y="3794760"/>
            <a:ext cx="1002665" cy="83693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5622925" y="1854835"/>
            <a:ext cx="2527300" cy="1206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I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Project Guide</a:t>
            </a:r>
            <a:endParaRPr lang="en-IN" sz="2400" b="1" dirty="0">
              <a:solidFill>
                <a:schemeClr val="bg1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Ms. S. Bindu Bhargavi</a:t>
            </a:r>
            <a:endParaRPr lang="en-IN" dirty="0">
              <a:solidFill>
                <a:schemeClr val="bg1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Assistant Professor</a:t>
            </a:r>
            <a:endParaRPr lang="en-IN" dirty="0">
              <a:solidFill>
                <a:schemeClr val="bg1">
                  <a:lumMod val="50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87070" y="1854835"/>
            <a:ext cx="4657090" cy="1412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IN" sz="2400" b="1" dirty="0">
                <a:latin typeface="Times New Roman" panose="02020603050405020304"/>
                <a:cs typeface="Times New Roman" panose="02020603050405020304"/>
                <a:sym typeface="+mn-ea"/>
              </a:rPr>
              <a:t>                       </a:t>
            </a:r>
            <a:r>
              <a:rPr lang="en-I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Team</a:t>
            </a:r>
            <a:endParaRPr lang="en-IN" sz="2400" b="1" dirty="0">
              <a:latin typeface="Times New Roman" panose="02020603050405020304"/>
              <a:cs typeface="Times New Roman" panose="02020603050405020304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K.Sailatha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               (21NM1A0475)</a:t>
            </a:r>
            <a:endParaRPr lang="en-IN" dirty="0">
              <a:solidFill>
                <a:schemeClr val="bg1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K.Bhoomika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	         (21NM1A0479)          </a:t>
            </a:r>
            <a:endParaRPr lang="en-IN" dirty="0">
              <a:solidFill>
                <a:schemeClr val="bg1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K.Niharika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              (21NM1A0471) </a:t>
            </a:r>
            <a:endParaRPr lang="en-IN" dirty="0">
              <a:solidFill>
                <a:schemeClr val="bg1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M.Rupavathi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           (21NM1A0484)</a:t>
            </a:r>
            <a:endParaRPr lang="en-IN" dirty="0">
              <a:solidFill>
                <a:schemeClr val="bg1">
                  <a:lumMod val="50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85800" y="6396990"/>
            <a:ext cx="8348345" cy="556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r>
              <a:rPr lang="en-US" altLang="en-IN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altLang="en-IN" sz="1400" b="1" dirty="0">
                <a:latin typeface="Times New Roman" panose="02020603050405020304"/>
                <a:cs typeface="Times New Roman" panose="02020603050405020304"/>
                <a:sym typeface="+mn-ea"/>
              </a:rPr>
              <a:t>  </a:t>
            </a:r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/>
                <a:cs typeface="Times New Roman" panose="02020603050405020304"/>
                <a:sym typeface="+mn-ea"/>
              </a:rPr>
              <a:t>Contents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5092"/>
            <a:ext cx="8229600" cy="4811071"/>
          </a:xfrm>
        </p:spPr>
        <p:txBody>
          <a:bodyPr>
            <a:normAutofit fontScale="5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&amp; Methodology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Communicated paper status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Future Scope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98500" y="6358255"/>
            <a:ext cx="608647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85495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2370"/>
            <a:ext cx="8229600" cy="5106035"/>
          </a:xfrm>
        </p:spPr>
        <p:txBody>
          <a:bodyPr>
            <a:normAutofit fontScale="25000"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Flip-flops are  basic building blocks of sequential circuits that store one bit of data (0 or 1) in digital circuits. </a:t>
            </a:r>
            <a:endParaRPr lang="en-US" alt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work with a clock signal and change output only when the clock ticks.  </a:t>
            </a:r>
            <a:endParaRPr lang="en-US" alt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flip-flop is a type of flip-flop that gives the output same as the input (D) on every clock edge.  </a:t>
            </a:r>
            <a:endParaRPr lang="en-US" alt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flip-flops are easy to use and are found in memory, registers, and counters and help in storing and timing data in digital systems like computers and processors.</a:t>
            </a:r>
            <a:endParaRPr lang="en-US" alt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alt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alt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40715" y="6396990"/>
            <a:ext cx="542036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343"/>
            <a:ext cx="8229600" cy="604814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57200" y="831850"/>
          <a:ext cx="7904480" cy="5325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1831340"/>
                <a:gridCol w="1852295"/>
                <a:gridCol w="1903730"/>
                <a:gridCol w="1800860"/>
              </a:tblGrid>
              <a:tr h="640080">
                <a:tc>
                  <a:txBody>
                    <a:bodyPr/>
                    <a:lstStyle/>
                    <a:p>
                      <a:r>
                        <a:rPr lang="en-IN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and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Observations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Limitations</a:t>
                      </a:r>
                      <a:endParaRPr lang="en-IN" dirty="0"/>
                    </a:p>
                  </a:txBody>
                  <a:tcPr/>
                </a:tc>
              </a:tr>
              <a:tr h="1554480"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Metastability of True Single-Phase Clock D-Flipflops with applications in Vernier TDCs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Circuits and Systems,2022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 shunt capacitor technique to reduce setup/hold time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DFFs are sensitive to leakage currents and disturbances,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which can limit their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realibility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353185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Ultra-Low Power Flip-Flop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r>
                        <a:rPr lang="en-IN" sz="1600" dirty="0"/>
                        <a:t> for IoT Applications Using Adaptive Pre-charge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VLSI Systems,2022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an adaptive pre-charge scheme that minimizes redundant operations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Increases circuit complexity and incurs a slight layout overhead.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777365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Robust Low-Voltage Flip-Flop with Self-Retentive Architecture for Subthreshold Operation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Journal of Solid-State Circuits,2023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robustness in subthreshold regimes with a self-retentive design and offers enhanced soft-error tolerance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Exhibits increased setup time and moderate area overhead compared to conventional designs</a:t>
                      </a:r>
                      <a:r>
                        <a:rPr lang="en-IN" sz="1600" dirty="0"/>
                        <a:t>.</a:t>
                      </a:r>
                      <a:endParaRPr lang="en-IN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698500" y="6396990"/>
            <a:ext cx="517144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6143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energy-efficient TSPC flip-flop.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educe power consumption through an input-aware 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precharge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ptimize transistor-level design for better performance.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resist radiation-induced bit flips.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98500" y="6396990"/>
            <a:ext cx="519874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&amp; Methodology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Tanner EDA is a software tool used for designing , simulating and verifying wave forms of a circuit design.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TGFF :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contention-free FF which is suitable for near-threshold operation.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TSPC : It is 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sequential logic circuit</a:t>
            </a: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offer high speed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operation for advanced  technologies</a:t>
            </a: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with minimal delay.</a:t>
            </a: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of SEU : D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esigned to resist radiation-induced bit flip</a:t>
            </a: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: Uses EDA tools to analyze power,speed.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5" name="Text Box 4"/>
          <p:cNvSpPr txBox="1"/>
          <p:nvPr/>
        </p:nvSpPr>
        <p:spPr>
          <a:xfrm>
            <a:off x="698500" y="6396990"/>
            <a:ext cx="499681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ransmission-gate flip-flop (TGFF)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9065"/>
            <a:ext cx="8229600" cy="4717415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ransmission-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ate 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lip-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lop (TGFF) is the most widely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used FF in current digital systems.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The TGFF is a contention-free FF which is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near-threshold operation.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The main drawback of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TGFF is the large clock network.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internal nodes CKN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and CKI toggle no matter what the input data is, and the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nodes CKN and CKI drive a larger number of transistors. 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Thus,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the power consumption of TGFF is still large even if the data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activity remains low.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98500" y="6396990"/>
            <a:ext cx="611314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853"/>
            <a:ext cx="8229600" cy="1143000"/>
          </a:xfrm>
        </p:spPr>
        <p:txBody>
          <a:bodyPr/>
          <a:p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5390" y="1605915"/>
            <a:ext cx="6550660" cy="34632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98270" y="4971415"/>
            <a:ext cx="65779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Fig 1: 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Schematic Design of the T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GFF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endParaRPr lang="en-US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3" name="Text Box 2"/>
          <p:cNvSpPr txBox="1"/>
          <p:nvPr/>
        </p:nvSpPr>
        <p:spPr>
          <a:xfrm>
            <a:off x="698500" y="6396990"/>
            <a:ext cx="604583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True Single-Phase Clock (TSPC) D-Flipflop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5000"/>
          </a:bodyPr>
          <a:p>
            <a:pPr marL="0" indent="0">
              <a:buNone/>
            </a:pPr>
            <a:endParaRPr lang="en-US" b="1" dirty="0"/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True Single-Phase Clock (TSPC) D-Flipflops are a class of sequential logic circuits designed to operate with a single clock signal.</a:t>
            </a:r>
            <a:endParaRPr lang="en-US" sz="43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of TSPC D-Flipflop is to Reduce clock skew and power consumption.</a:t>
            </a:r>
            <a:endParaRPr lang="en-US" sz="4365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They also offer </a:t>
            </a:r>
            <a:r>
              <a:rPr lang="en-US"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high-speed operation for advanced  technologies.</a:t>
            </a:r>
            <a:endParaRPr lang="en-US" sz="436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minimizes</a:t>
            </a:r>
            <a:r>
              <a:rPr lang="en-IN"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</a:t>
            </a:r>
            <a:r>
              <a:rPr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power by employing an</a:t>
            </a:r>
            <a:r>
              <a:rPr lang="en-IN"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input-aware pre</a:t>
            </a:r>
            <a:r>
              <a:rPr lang="en-IN"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</a:t>
            </a:r>
            <a:r>
              <a:rPr sz="43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charge scheme.</a:t>
            </a:r>
            <a:endParaRPr sz="43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365"/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98500" y="6396990"/>
            <a:ext cx="662051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48678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485" y="1482090"/>
            <a:ext cx="5699760" cy="36042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226185" y="5269230"/>
            <a:ext cx="67506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Fig 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2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: 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Schematic Design of the TSPC 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D-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FF</a:t>
            </a:r>
            <a:endParaRPr lang="en-US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98500" y="6396990"/>
            <a:ext cx="517144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IN" altLang="en-US"/>
              <a:t>   </a:t>
            </a:r>
            <a:r>
              <a:rPr lang="en-US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IN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: Schematic Design of the proposed TSPC FF with</a:t>
            </a:r>
            <a:r>
              <a:rPr lang="en-IN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lang="en-US" altLang="en-US" sz="343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endParaRPr lang="en-US" altLang="en-US" sz="343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06345722" name="Image 1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31975" y="749935"/>
            <a:ext cx="5480050" cy="39497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98500" y="6396990"/>
            <a:ext cx="612076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25980" y="1417320"/>
            <a:ext cx="5326380" cy="32607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97865" y="4900295"/>
            <a:ext cx="79844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       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Fig 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4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: 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Schematic 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Design of the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D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FF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with RESET</a:t>
            </a:r>
            <a:endParaRPr lang="en-IN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98500" y="6379845"/>
            <a:ext cx="516128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Soft-Error Tolerant Optimization of the Proposed FF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SEU-tolerant flip-flops are designed to resist radiation-induced bit flips and ensure reliable data storage in critical applications.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They use redundancy, error correction, and feedback mechanisms to detect and recover from transient faults.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Techniques – Common approaches include Triple Modular Redundancy (TMR), Dual Interlocked Storage Cell (DICE), and error detection with correction circuits.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 – Widely used in aerospace, nuclear, medical, and safety-critical systems where data integrity is essential.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98500" y="6396990"/>
            <a:ext cx="614299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49120" y="773430"/>
            <a:ext cx="5815330" cy="45688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37920" y="5342255"/>
            <a:ext cx="73215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Fig 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5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: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Schematic Design of the 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SEU-tolerant FF</a:t>
            </a:r>
            <a:endParaRPr lang="en-IN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98500" y="6400165"/>
            <a:ext cx="523240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54990" y="5347970"/>
            <a:ext cx="79324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  </a:t>
            </a:r>
            <a:r>
              <a:rPr lang="en-IN" alt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          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      Fig 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6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: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Schematic Design of the T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GFF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endParaRPr lang="en-US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417955"/>
            <a:ext cx="8229600" cy="3804285"/>
          </a:xfrm>
          <a:prstGeom prst="rect">
            <a:avLst/>
          </a:prstGeom>
        </p:spPr>
      </p:pic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7" name="Text Box 6"/>
          <p:cNvSpPr txBox="1"/>
          <p:nvPr/>
        </p:nvSpPr>
        <p:spPr>
          <a:xfrm>
            <a:off x="698500" y="6396990"/>
            <a:ext cx="578802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9765" y="5207000"/>
            <a:ext cx="7721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Fig 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7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: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Transient Analysis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of the T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GFF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endParaRPr lang="en-US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6" name="Text Box 5"/>
          <p:cNvSpPr txBox="1"/>
          <p:nvPr/>
        </p:nvSpPr>
        <p:spPr>
          <a:xfrm>
            <a:off x="702310" y="6396990"/>
            <a:ext cx="574294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890" y="491490"/>
            <a:ext cx="804291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79780"/>
          </a:xfrm>
        </p:spPr>
        <p:txBody>
          <a:bodyPr>
            <a:normAutofit/>
          </a:bodyPr>
          <a:lstStyle/>
          <a:p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55980" y="5697855"/>
            <a:ext cx="72853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    </a:t>
            </a:r>
            <a:r>
              <a:rPr lang="en-IN" altLang="en-US" sz="1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            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Fig 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8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: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Schematic Design of the TSPC 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D-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FF</a:t>
            </a:r>
            <a:endParaRPr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57225" y="6379845"/>
            <a:ext cx="537146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335" y="1104265"/>
            <a:ext cx="7903329" cy="44129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" y="259080"/>
            <a:ext cx="8257540" cy="5273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98500" y="5440045"/>
            <a:ext cx="7712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IN" altLang="en-US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       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Fig 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9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: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Transient Analysis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of the TSPC 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D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FF</a:t>
            </a:r>
            <a:endParaRPr lang="en-US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98500" y="6396990"/>
            <a:ext cx="511048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700"/>
            <a:ext cx="8205470" cy="4949190"/>
          </a:xfrm>
          <a:prstGeom prst="rect">
            <a:avLst/>
          </a:prstGeom>
        </p:spPr>
      </p:pic>
      <p:sp>
        <p:nvSpPr>
          <p:cNvPr id="7" name="Content Placeholder 6"/>
          <p:cNvSpPr/>
          <p:nvPr>
            <p:ph idx="1"/>
          </p:nvPr>
        </p:nvSpPr>
        <p:spPr>
          <a:xfrm flipV="1">
            <a:off x="457200" y="6126480"/>
            <a:ext cx="8229600" cy="622300"/>
          </a:xfrm>
        </p:spPr>
        <p:txBody>
          <a:bodyPr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1025" y="350520"/>
            <a:ext cx="8105775" cy="48641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45795" y="5173980"/>
            <a:ext cx="7812405" cy="714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endParaRPr lang="en-IN" altLang="en-US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pPr algn="ctr"/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Fig 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10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: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Schematic Design of the FF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with SET</a:t>
            </a:r>
            <a:endParaRPr lang="en-IN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5" name="Text Box 4"/>
          <p:cNvSpPr txBox="1"/>
          <p:nvPr/>
        </p:nvSpPr>
        <p:spPr>
          <a:xfrm>
            <a:off x="698500" y="6379845"/>
            <a:ext cx="580644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endParaRPr lang="en-IN" altLang="en-US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endParaRPr lang="en-IN" altLang="en-US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endParaRPr lang="en-IN" altLang="en-US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endParaRPr lang="en-IN" altLang="en-US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endParaRPr lang="en-IN" altLang="en-US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endParaRPr lang="en-IN" altLang="en-US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endParaRPr lang="en-IN" altLang="en-US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endParaRPr lang="en-IN" altLang="en-US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pPr marL="0" indent="0">
              <a:buNone/>
            </a:pPr>
            <a:r>
              <a:rPr lang="en-IN" altLang="en-US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</a:t>
            </a:r>
            <a:r>
              <a:rPr lang="en-IN" altLang="en-US" sz="2665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      Fig </a:t>
            </a:r>
            <a:r>
              <a:rPr lang="en-US" altLang="en-IN" sz="2665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11</a:t>
            </a:r>
            <a:r>
              <a:rPr lang="en-IN" altLang="en-US" sz="2665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:</a:t>
            </a:r>
            <a:r>
              <a:rPr lang="en-US" sz="2665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IN" altLang="en-US" sz="2665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Transient Analysis</a:t>
            </a:r>
            <a:r>
              <a:rPr sz="2665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of the FF</a:t>
            </a:r>
            <a:r>
              <a:rPr lang="en-IN" sz="2665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with SET</a:t>
            </a:r>
            <a:endParaRPr lang="en-IN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  <a:p>
            <a:endParaRPr lang="en-US"/>
          </a:p>
        </p:txBody>
      </p:sp>
      <p:pic>
        <p:nvPicPr>
          <p:cNvPr id="25" name="Picture 25" descr="Screenshot 2025-02-20 1922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35" y="274955"/>
            <a:ext cx="8265160" cy="5003800"/>
          </a:xfrm>
          <a:prstGeom prst="rect">
            <a:avLst/>
          </a:prstGeom>
        </p:spPr>
      </p:pic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06515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98500" y="6406515"/>
            <a:ext cx="576707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360680"/>
            <a:ext cx="8074660" cy="49015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57885" y="5510530"/>
            <a:ext cx="75641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IN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Fig 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12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: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Schematic 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Design of the FF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with RESET</a:t>
            </a:r>
            <a:endParaRPr lang="en-IN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98500" y="6396990"/>
            <a:ext cx="568960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74638"/>
            <a:ext cx="8229600" cy="4865052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228090" y="5287010"/>
            <a:ext cx="73107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     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Fig 1</a:t>
            </a:r>
            <a:r>
              <a:rPr lang="en-US" alt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3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: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Transient Analysis</a:t>
            </a:r>
            <a:r>
              <a:rPr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of the FF</a:t>
            </a:r>
            <a:r>
              <a:rPr lang="en-IN" sz="2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with RESET</a:t>
            </a:r>
            <a:endParaRPr lang="en-IN" sz="2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98500" y="6379845"/>
            <a:ext cx="502920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9024620" cy="7060565"/>
          </a:xfrm>
        </p:spPr>
        <p:txBody>
          <a:bodyPr>
            <a:normAutofit/>
          </a:bodyPr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 sz="3430"/>
          </a:p>
          <a:p>
            <a:pPr marL="0" indent="0">
              <a:buNone/>
            </a:pPr>
            <a:r>
              <a:rPr lang="en-IN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 Schematic of the  SEU-Tolerant FF (SEU-TFF)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98500" y="6396990"/>
            <a:ext cx="594169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28080" r="29846"/>
          <a:stretch>
            <a:fillRect/>
          </a:stretch>
        </p:blipFill>
        <p:spPr>
          <a:xfrm>
            <a:off x="2041525" y="240030"/>
            <a:ext cx="4857115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5265"/>
            <a:ext cx="8322310" cy="5286375"/>
          </a:xfrm>
        </p:spPr>
        <p:txBody>
          <a:bodyPr>
            <a:normAutofit fontScale="6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IN" altLang="en-US"/>
              <a:t> </a:t>
            </a:r>
            <a:endParaRPr lang="en-IN" altLang="en-US"/>
          </a:p>
          <a:p>
            <a:pPr marL="0" indent="0">
              <a:buNone/>
            </a:pPr>
            <a:r>
              <a:rPr lang="en-IN" altLang="en-US" sz="34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343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343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IN" altLang="en-US" sz="343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343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IN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en-IN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343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Transient Analysis</a:t>
            </a:r>
            <a:r>
              <a:rPr lang="en-US" altLang="en-US" sz="3430" b="1">
                <a:latin typeface="Times New Roman" panose="02020603050405020304" pitchFamily="18" charset="0"/>
                <a:cs typeface="Times New Roman" panose="02020603050405020304" pitchFamily="18" charset="0"/>
              </a:rPr>
              <a:t> of SEU-Tolerant FF (SEU-TFF)</a:t>
            </a:r>
            <a:endParaRPr lang="en-US" altLang="en-US" sz="343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343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Picture 58" descr="seuo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85" y="576580"/>
            <a:ext cx="8044815" cy="4904105"/>
          </a:xfrm>
          <a:prstGeom prst="rect">
            <a:avLst/>
          </a:prstGeom>
        </p:spPr>
      </p:pic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98500" y="6396990"/>
            <a:ext cx="588391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</a:t>
            </a:r>
            <a:endParaRPr lang="en-US" b="1"/>
          </a:p>
        </p:txBody>
      </p:sp>
      <p:graphicFrame>
        <p:nvGraphicFramePr>
          <p:cNvPr id="9" name="Content Placeholder 8"/>
          <p:cNvGraphicFramePr/>
          <p:nvPr>
            <p:ph idx="1"/>
            <p:custDataLst>
              <p:tags r:id="rId1"/>
            </p:custDataLst>
          </p:nvPr>
        </p:nvGraphicFramePr>
        <p:xfrm>
          <a:off x="457200" y="1600200"/>
          <a:ext cx="8229600" cy="3267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10890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parameters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TGFF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TSPC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TSPC with set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TSPC  with reset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SEU</a:t>
                      </a:r>
                      <a:endParaRPr lang="en-IN" altLang="en-US"/>
                    </a:p>
                  </a:txBody>
                  <a:tcPr/>
                </a:tc>
              </a:tr>
              <a:tr h="10890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power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3.69</a:t>
                      </a:r>
                      <a:r>
                        <a:rPr lang="en-US" altLang="en-US" sz="1800">
                          <a:sym typeface="+mn-ea"/>
                        </a:rPr>
                        <a:t>μW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2.02μW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800">
                          <a:sym typeface="+mn-ea"/>
                        </a:rPr>
                        <a:t>4</a:t>
                      </a:r>
                      <a:r>
                        <a:rPr lang="en-US" altLang="en-US" sz="1800">
                          <a:sym typeface="+mn-ea"/>
                        </a:rPr>
                        <a:t>.</a:t>
                      </a:r>
                      <a:r>
                        <a:rPr lang="en-IN" altLang="en-US" sz="1800">
                          <a:sym typeface="+mn-ea"/>
                        </a:rPr>
                        <a:t>5</a:t>
                      </a:r>
                      <a:r>
                        <a:rPr lang="en-US" altLang="en-US" sz="1800">
                          <a:sym typeface="+mn-ea"/>
                        </a:rPr>
                        <a:t>μW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800">
                          <a:sym typeface="+mn-ea"/>
                        </a:rPr>
                        <a:t>4.5</a:t>
                      </a:r>
                      <a:r>
                        <a:rPr lang="en-US" altLang="en-US" sz="1800">
                          <a:sym typeface="+mn-ea"/>
                        </a:rPr>
                        <a:t>μW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2.</a:t>
                      </a:r>
                      <a:r>
                        <a:rPr lang="en-IN" altLang="en-US" sz="1800">
                          <a:sym typeface="+mn-ea"/>
                        </a:rPr>
                        <a:t>9</a:t>
                      </a:r>
                      <a:r>
                        <a:rPr lang="en-US" altLang="en-US" sz="1800">
                          <a:sym typeface="+mn-ea"/>
                        </a:rPr>
                        <a:t>μW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10890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delay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20.0173sec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17.5091</a:t>
                      </a:r>
                      <a:r>
                        <a:rPr lang="en-IN" altLang="en-US"/>
                        <a:t>sec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40.0055sec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800">
                          <a:sym typeface="+mn-ea"/>
                        </a:rPr>
                        <a:t>40.9938sec</a:t>
                      </a:r>
                      <a:endParaRPr lang="en-IN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17.5223sec</a:t>
                      </a:r>
                      <a:endParaRPr lang="en-I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3" name="Text Box 2"/>
          <p:cNvSpPr txBox="1"/>
          <p:nvPr/>
        </p:nvSpPr>
        <p:spPr>
          <a:xfrm>
            <a:off x="698500" y="6379845"/>
            <a:ext cx="592201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03580" y="5004435"/>
            <a:ext cx="76619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Table : Power and Delay Calculations   </a:t>
            </a:r>
            <a:endParaRPr lang="en-IN" alt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Communicated paper status</a:t>
            </a:r>
            <a:endParaRPr 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Published in International Conference on Radio Frequency,   Communication &amp; Networks (SASTRA) - 2025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Paper Submitted: Before the deadline on April 5,2025.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Acceptance Notification: Awaiting decision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/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98500" y="6396990"/>
            <a:ext cx="599884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TSPC FF significantly reduces power consumption.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redundant pre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and discharge operations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robustly at low voltages.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Hence,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SEU-tolerant flip-flops are </a:t>
            </a: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used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resist radiation-induced bit flips and </a:t>
            </a: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ensure reliable data storage in critical applications.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98500" y="6396990"/>
            <a:ext cx="552640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I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altLang="en-US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0730"/>
          </a:xfrm>
        </p:spPr>
        <p:txBody>
          <a:bodyPr>
            <a:normAutofit/>
          </a:bodyPr>
          <a:p>
            <a:pPr algn="just">
              <a:lnSpc>
                <a:spcPct val="10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Further Power Optimization – Exploring alternative circuit 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to further minimize power consumption in flip-flop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designs.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Scaling – Analyzing how the proposed design performs in smaller technology nodes (e.g., 5nm, 3nm).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IoT and AI Chips – Integrating the design in real-world applications like IoT devices or low-power AI accelerators.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98500" y="6379845"/>
            <a:ext cx="6480810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</a:t>
            </a: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54075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9665"/>
            <a:ext cx="8229600" cy="50920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[1]Parth Parekh, Fei Yuan, and Yushi Zhou, "Improved Metastability of True Single-Phase Clock D-Flipflops With Applications in Vernier Time-to-Digital Converters," IEEE Transactions on Circuits and Systems—I: Regular Papers, vol. 69, no. 3, pp. 1102-1114, March 2022. DOI: 10.1109/TCSI.2021.3122340.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[2]Parekh, P.,F. Yuan, and Y. Zhou."Area/Power-Efficient True-Single Phase-Clock D-Flip-Flops with Improved Meta stability." Proceedings of the IEEE International Mid west Symposium on Circuits and Systems(MWSCAS), Aug. 2020, pp. 182-185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[3]T. Tekeste, H. Saleh, B. Mohammad, and M. Ismail, “Ultra-low power QRS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and ECG compression architecture for IoT healthcare devices,” IEEE Trans. Circuits Syst. I, Reg. Papers, vol. 66, no. 2, pp. 669–679, Feb. 2019.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98500" y="6379845"/>
            <a:ext cx="620712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6" name="Text Box 5"/>
          <p:cNvSpPr txBox="1"/>
          <p:nvPr/>
        </p:nvSpPr>
        <p:spPr>
          <a:xfrm flipV="1">
            <a:off x="698500" y="7651750"/>
            <a:ext cx="2874010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9775"/>
            <a:ext cx="8229600" cy="496252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Andrei, P. Eles, O. Jovanovic, M. Schmitz, J. Ogniewski, and Z. Peng, “Quasi-static voltage scaling for energy minimization with time constraints,” IEEE Trans. Very Large Scale Integr. (VLSI) Syst., vol. 19, no. 1, pp. 10–23, Jan. 2011.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Pullini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Rossi, I. Loi, G.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Tagliavini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Benini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“Mr. Wolf:An energy-precision scalable parallel ultra low power SoC for IoT edge processing,” IEEE J. Solid-State Circuits, vol. 54, no. 7, pp. 1970–1981,Jul. 2019.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J. P. Cerqueira, T. J. Repetti, Y. Pu, S. Priyadarshi, M. A. Kim,and M. Seok, “Catena: A near-threshold, sub-0.4-mW, 16-core pro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grammable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spatial array accelerator for the ultralow-power mobile and embedded Internet of Things,” IEEE J. Solid-State Circuits, vol. 55,no. 8, pp. 2270–2284, Aug. 2020.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98500" y="6396990"/>
            <a:ext cx="6501765" cy="47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</a:t>
            </a: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IN" altLang="en-US"/>
              <a:t>            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en-US" altLang="en-I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altLang="en-IN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C:\Users\SREE\Desktop\vignan logo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396990"/>
            <a:ext cx="698500" cy="46101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98500" y="6379845"/>
            <a:ext cx="5661025" cy="47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Electronics and Communication Engineering 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en-US" sz="1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Vignan’s Institute of Engineering for Women, Visakhapatnam</a:t>
            </a:r>
            <a:endParaRPr lang="en-US" altLang="en-US" sz="1400" b="1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22*411"/>
  <p:tag name="TABLE_ENDDRAG_RECT" val="36*73*622*411"/>
</p:tagLst>
</file>

<file path=ppt/tags/tag2.xml><?xml version="1.0" encoding="utf-8"?>
<p:tagLst xmlns:p="http://schemas.openxmlformats.org/presentationml/2006/main">
  <p:tag name="TABLE_ENDDRAG_ORIGIN_RECT" val="648*144"/>
  <p:tag name="TABLE_ENDDRAG_RECT" val="36*126*648*14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11233</Words>
  <Application>WPS Slides</Application>
  <PresentationFormat>On-screen Show (4:3)</PresentationFormat>
  <Paragraphs>380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SimSun</vt:lpstr>
      <vt:lpstr>Wingdings</vt:lpstr>
      <vt:lpstr>Arial</vt:lpstr>
      <vt:lpstr>Times New Roman</vt:lpstr>
      <vt:lpstr>Times New Roman</vt:lpstr>
      <vt:lpstr>Microsoft YaHei</vt:lpstr>
      <vt:lpstr>Arial Unicode MS</vt:lpstr>
      <vt:lpstr>Calibri</vt:lpstr>
      <vt:lpstr>Office Theme</vt:lpstr>
      <vt:lpstr>Energy-Efficient True Single Phase Clocked Flip Flop for High Performance Applications</vt:lpstr>
      <vt:lpstr>Contents</vt:lpstr>
      <vt:lpstr>Introduction</vt:lpstr>
      <vt:lpstr>Literature survey</vt:lpstr>
      <vt:lpstr>Objectives</vt:lpstr>
      <vt:lpstr>Method &amp; Methodology</vt:lpstr>
      <vt:lpstr>Transmission-gate flip-flop (TGFF)</vt:lpstr>
      <vt:lpstr>PowerPoint 演示文稿</vt:lpstr>
      <vt:lpstr>True Single-Phase Clock (TSPC) D-Flipflop</vt:lpstr>
      <vt:lpstr> </vt:lpstr>
      <vt:lpstr>PowerPoint 演示文稿</vt:lpstr>
      <vt:lpstr>PowerPoint 演示文稿</vt:lpstr>
      <vt:lpstr>Soft-Error Tolerant Optimization of the Proposed FF</vt:lpstr>
      <vt:lpstr>PowerPoint 演示文稿</vt:lpstr>
      <vt:lpstr>Implementation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Results</vt:lpstr>
      <vt:lpstr>Communicated paper status</vt:lpstr>
      <vt:lpstr>Conclusion</vt:lpstr>
      <vt:lpstr>Future Scope</vt:lpstr>
      <vt:lpstr>References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kosetti niharika</dc:creator>
  <dc:description>generated using python-pptx</dc:description>
  <cp:lastModifiedBy>sailatha 475</cp:lastModifiedBy>
  <cp:revision>32</cp:revision>
  <dcterms:created xsi:type="dcterms:W3CDTF">2013-01-27T09:14:00Z</dcterms:created>
  <dcterms:modified xsi:type="dcterms:W3CDTF">2025-04-19T08:31:33Z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1ED0D740E476431A84F49B34E7515521_12</vt:lpwstr>
  </property>
  <property fmtid="{D5CDD505-2E9C-101B-9397-08002B2CF9AE}" pid="3" name="KSOProductBuildVer">
    <vt:lpwstr>1033-12.2.0.20795</vt:lpwstr>
  </property>
</Properties>
</file>